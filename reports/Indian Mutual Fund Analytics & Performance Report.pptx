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07164"/>
            <a:ext cx="9144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Indian Mutual Fund Analytics &amp; Performance Report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0" y="2655856"/>
            <a:ext cx="9144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Period: January 2022 – December 2025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0" y="3004114"/>
            <a:ext cx="9144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Quantitative Analytics Team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0" y="3177350"/>
            <a:ext cx="9144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357188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&amp; Objective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705445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Indian Mutual Fund Performance and Market Trends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39391" y="1164431"/>
            <a:ext cx="35361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39391" y="1528763"/>
            <a:ext cx="3536156" cy="51435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complex dynamics of the Indian mutual fund industry, including performance, risk, and investor behavior, is crucial for informed decision-making.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25091" y="1528763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68453" y="1164431"/>
            <a:ext cx="35361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68453" y="1528763"/>
            <a:ext cx="3536156" cy="51435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report provides a comprehensive quantitative analysis of India's mutual fund industry from January 2022 to December 2025, evaluating 40 schemes across various dimensions.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54153" y="1528763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357188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Sources &amp; Quality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705445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Data Foundation for Reliable Insights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39391" y="1164431"/>
            <a:ext cx="35361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39391" y="1528763"/>
            <a:ext cx="3536156" cy="51435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based on 13 structured datasets from AMFI and proprietary systems, including NAV history (46,000+ records), investor transactions (32,778), and AUM data.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25091" y="1528763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68453" y="1164431"/>
            <a:ext cx="35361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68453" y="1528763"/>
            <a:ext cx="3536156" cy="51435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Day-1 audit confirmed zero missing values, zero duplicate records, and full AMFI code consistency across all fund-level tables, ensuring high data integrity.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54153" y="1528763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357188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ETL Pipeline &amp; Methodology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705445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and Reproducible Data Processing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81" y="1191220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2938" y="1618059"/>
            <a:ext cx="23574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Ingest &amp; Clean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42938" y="1862733"/>
            <a:ext cx="23574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ingestion of 13 CSV datasets using Python/Pandas with strict type-casting and validation.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406" y="1191220"/>
            <a:ext cx="357188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93281" y="1618059"/>
            <a:ext cx="23574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Transform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393281" y="1862733"/>
            <a:ext cx="23574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Vectorized computations for returns and risk metrics. Joining analytical fact tables on AMFI codes.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69" y="1191220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43625" y="1618059"/>
            <a:ext cx="23574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Analytical Output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43625" y="1862733"/>
            <a:ext cx="23574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of clean analytical tables for downstream visualization and performance scoring.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642938" y="2868523"/>
            <a:ext cx="7858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Metrics Computed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237319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4388" y="3218566"/>
            <a:ext cx="4089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Return: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1223367" y="3218566"/>
            <a:ext cx="10519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CAGR (1yr, 3yr, 5yr)</a:t>
            </a:r>
            <a:endParaRPr lang="en-US" sz="8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8" y="3237319"/>
            <a:ext cx="100013" cy="100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14888" y="3218566"/>
            <a:ext cx="2732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Risk:</a:t>
            </a:r>
            <a:endParaRPr lang="en-US" sz="800" dirty="0"/>
          </a:p>
        </p:txBody>
      </p:sp>
      <p:sp>
        <p:nvSpPr>
          <p:cNvPr id="20" name="Text 12"/>
          <p:cNvSpPr/>
          <p:nvPr/>
        </p:nvSpPr>
        <p:spPr>
          <a:xfrm>
            <a:off x="5088136" y="3218566"/>
            <a:ext cx="15180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Sharpe, Sortino, Alpha, Beta</a:t>
            </a:r>
            <a:endParaRPr lang="en-US" sz="8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3517711"/>
            <a:ext cx="100013" cy="1000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14388" y="3498959"/>
            <a:ext cx="49470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Stability:</a:t>
            </a:r>
            <a:endParaRPr lang="en-US" sz="800" dirty="0"/>
          </a:p>
        </p:txBody>
      </p:sp>
      <p:sp>
        <p:nvSpPr>
          <p:cNvPr id="23" name="Text 14"/>
          <p:cNvSpPr/>
          <p:nvPr/>
        </p:nvSpPr>
        <p:spPr>
          <a:xfrm>
            <a:off x="1309092" y="3498959"/>
            <a:ext cx="12215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Drawdown (MDD)</a:t>
            </a:r>
            <a:endParaRPr lang="en-US" sz="8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3438" y="3517711"/>
            <a:ext cx="100013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14888" y="3498959"/>
            <a:ext cx="8340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Concentration:</a:t>
            </a:r>
            <a:endParaRPr lang="en-US" sz="800" dirty="0"/>
          </a:p>
        </p:txBody>
      </p:sp>
      <p:sp>
        <p:nvSpPr>
          <p:cNvPr id="26" name="Text 16"/>
          <p:cNvSpPr/>
          <p:nvPr/>
        </p:nvSpPr>
        <p:spPr>
          <a:xfrm>
            <a:off x="5648920" y="3498959"/>
            <a:ext cx="91261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HHI Index</a:t>
            </a:r>
            <a:endParaRPr lang="en-US" sz="8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3798103"/>
            <a:ext cx="100013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14388" y="3779351"/>
            <a:ext cx="4697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Scoring:</a:t>
            </a:r>
            <a:endParaRPr lang="en-US" sz="800" dirty="0"/>
          </a:p>
        </p:txBody>
      </p:sp>
      <p:sp>
        <p:nvSpPr>
          <p:cNvPr id="29" name="Text 18"/>
          <p:cNvSpPr/>
          <p:nvPr/>
        </p:nvSpPr>
        <p:spPr>
          <a:xfrm>
            <a:off x="1284089" y="3779351"/>
            <a:ext cx="189845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 Fund Scorecard (0-100)</a:t>
            </a:r>
            <a:endParaRPr lang="en-US" sz="8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3438" y="3798103"/>
            <a:ext cx="100013" cy="100013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814888" y="3779351"/>
            <a:ext cx="6572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Correlation:</a:t>
            </a:r>
            <a:endParaRPr lang="en-US" sz="800" dirty="0"/>
          </a:p>
        </p:txBody>
      </p:sp>
      <p:sp>
        <p:nvSpPr>
          <p:cNvPr id="32" name="Text 20"/>
          <p:cNvSpPr/>
          <p:nvPr/>
        </p:nvSpPr>
        <p:spPr>
          <a:xfrm>
            <a:off x="5472113" y="3779351"/>
            <a:ext cx="10858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NAV Matrix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357188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 Highlights: Market Growth Trends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705445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Deepening Retail Participation and Industry Expansion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42938" y="1164431"/>
            <a:ext cx="37861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170% ↑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42938" y="1614488"/>
            <a:ext cx="37861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SIP Inflow Surge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2938" y="1841302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SIP inflows grew from ₹11,438 Cr in Jan 2022 to a record ₹31,002 Cr by Dec 2025, signaling a massive shift in retail investment habits.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2938" y="2569964"/>
            <a:ext cx="37861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 Crore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642938" y="3020020"/>
            <a:ext cx="37861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Industry Folios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2938" y="3246834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industry nearly doubled its reach from 13.3 Crore folios to ~26 Crore, with Equity folios serving as the primary growth engine.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14875" y="1164431"/>
            <a:ext cx="3786188" cy="265747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307306"/>
            <a:ext cx="3771900" cy="25003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4875" y="3879056"/>
            <a:ext cx="3786188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AMFI Data (2022-2025)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357188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 Highlights: AUM &amp; Sectoral Inflows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705445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Dominance of Large Funds and Liquid Categories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42938" y="1164431"/>
            <a:ext cx="3771900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AUM Growth by Fund House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2938" y="1564481"/>
            <a:ext cx="3771900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SBI Mutual Fund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maintained its leadership position, reaching approximately </a:t>
            </a: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₹12.5 Lakh Cr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2938" y="2083073"/>
            <a:ext cx="3771900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ICICI Prudential MF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HDFC Mutual Fund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follow closely as top industry players.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2938" y="2601664"/>
            <a:ext cx="3771900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Mirae Asset MF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registered the strongest percentage growth, driven by top-performing schemes.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578769"/>
            <a:ext cx="128588" cy="20571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097360"/>
            <a:ext cx="128588" cy="20571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615952"/>
            <a:ext cx="128588" cy="2057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29163" y="1164431"/>
            <a:ext cx="3771900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Category-wise Net Inflows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29163" y="1564481"/>
            <a:ext cx="3771900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Liquid Funds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dominated net inflows, attracting </a:t>
            </a: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₹33,000–42,000 Cr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month in FY 2024-25.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729163" y="2083073"/>
            <a:ext cx="3771900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Sectoral/Thematic Funds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led equity inflows at approximately </a:t>
            </a: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₹8,000–10,000 Cr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month.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729163" y="2601664"/>
            <a:ext cx="3771900" cy="4114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 Cap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9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 &amp; Mid Cap</a:t>
            </a:r>
            <a:r>
              <a:rPr lang="en-US" sz="9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categories also showed robust investor interest.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42938" y="3263131"/>
            <a:ext cx="7858125" cy="5607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1"/>
          <p:cNvSpPr/>
          <p:nvPr/>
        </p:nvSpPr>
        <p:spPr>
          <a:xfrm>
            <a:off x="642938" y="3263131"/>
            <a:ext cx="28575" cy="560784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163" y="1578769"/>
            <a:ext cx="128588" cy="205718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63" y="2097360"/>
            <a:ext cx="128588" cy="205718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9163" y="2615952"/>
            <a:ext cx="128588" cy="20571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85813" y="3406006"/>
            <a:ext cx="75723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 Institutional cash management drives Liquid fund dominance, while retail equity appetite is increasingly shifting towards Sectoral and Flexi Cap mandates.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428625"/>
            <a:ext cx="821531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Metrics: Returns &amp; Risk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64344" y="762595"/>
            <a:ext cx="8215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Efficient Investment Avenues (2022-2025)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4344" y="1221581"/>
            <a:ext cx="4532709" cy="29217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364456"/>
            <a:ext cx="4232672" cy="2500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344" y="3864769"/>
            <a:ext cx="4518422" cy="26431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1-Year Returns by Category (%)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531" y="1237655"/>
            <a:ext cx="157163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22131" y="1221581"/>
            <a:ext cx="188416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Risk-Return Insights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393531" y="1553766"/>
            <a:ext cx="3286125" cy="54859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Performers: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Small Cap funds delivered the highest average 1-year return at </a:t>
            </a: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22.26%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followed by Value (16.67%) and Flexi Cap (16.58%).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5393531" y="2245230"/>
            <a:ext cx="3286125" cy="54859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Low-Risk Quadrant: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Liquid and Short Duration funds clustered in the low-risk quadrant, providing stability with minimal drawdown.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5393531" y="2936695"/>
            <a:ext cx="3286125" cy="54859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Premia: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Small and Mid Cap funds offered significant return premia, albeit with increased annualized volatility (18–22% std dev).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5393531" y="3699597"/>
            <a:ext cx="328612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Indian Mutual Fund Analytics Report, Page 15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285750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Metrics: Sharpe &amp; Top Funds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619720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 Risk-Adjusted Returns and Composite Rankings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07269"/>
            <a:ext cx="7858125" cy="20002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2938" y="3293269"/>
            <a:ext cx="7858125" cy="165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642938" y="3293269"/>
            <a:ext cx="600075" cy="29289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8" name="Text 4"/>
          <p:cNvSpPr/>
          <p:nvPr/>
        </p:nvSpPr>
        <p:spPr>
          <a:xfrm>
            <a:off x="642938" y="3293269"/>
            <a:ext cx="600075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Rank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1243013" y="3293269"/>
            <a:ext cx="2392012" cy="29289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0" name="Text 6"/>
          <p:cNvSpPr/>
          <p:nvPr/>
        </p:nvSpPr>
        <p:spPr>
          <a:xfrm>
            <a:off x="1243013" y="3293269"/>
            <a:ext cx="2392012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 Name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635025" y="3293269"/>
            <a:ext cx="1667563" cy="29289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2" name="Text 8"/>
          <p:cNvSpPr/>
          <p:nvPr/>
        </p:nvSpPr>
        <p:spPr>
          <a:xfrm>
            <a:off x="3635025" y="3293269"/>
            <a:ext cx="1667563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House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5302588" y="3293269"/>
            <a:ext cx="718951" cy="29289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4" name="Text 10"/>
          <p:cNvSpPr/>
          <p:nvPr/>
        </p:nvSpPr>
        <p:spPr>
          <a:xfrm>
            <a:off x="5302588" y="3293269"/>
            <a:ext cx="718951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6021539" y="3293269"/>
            <a:ext cx="981401" cy="29289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6" name="Text 12"/>
          <p:cNvSpPr/>
          <p:nvPr/>
        </p:nvSpPr>
        <p:spPr>
          <a:xfrm>
            <a:off x="6021539" y="3293269"/>
            <a:ext cx="981401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5yr CAGR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7002940" y="3293269"/>
            <a:ext cx="798230" cy="29289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8" name="Text 14"/>
          <p:cNvSpPr/>
          <p:nvPr/>
        </p:nvSpPr>
        <p:spPr>
          <a:xfrm>
            <a:off x="7002940" y="3293269"/>
            <a:ext cx="798230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Sharpe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7801170" y="3293269"/>
            <a:ext cx="699892" cy="29289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20" name="Text 16"/>
          <p:cNvSpPr/>
          <p:nvPr/>
        </p:nvSpPr>
        <p:spPr>
          <a:xfrm>
            <a:off x="7801170" y="3293269"/>
            <a:ext cx="699892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Alpha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642938" y="3586163"/>
            <a:ext cx="7858125" cy="26789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2" name="Text 18"/>
          <p:cNvSpPr/>
          <p:nvPr/>
        </p:nvSpPr>
        <p:spPr>
          <a:xfrm>
            <a:off x="642938" y="3586163"/>
            <a:ext cx="600075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1243013" y="3586163"/>
            <a:ext cx="2392012" cy="26789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Asset Large Cap Fund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635025" y="3586163"/>
            <a:ext cx="1667563" cy="267891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Asset MF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302588" y="3586163"/>
            <a:ext cx="718951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100.0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021539" y="3586163"/>
            <a:ext cx="981401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30.97%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002940" y="3586163"/>
            <a:ext cx="798230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1.45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801170" y="3586163"/>
            <a:ext cx="699892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0.27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642938" y="3854053"/>
            <a:ext cx="60007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1243013" y="3854053"/>
            <a:ext cx="2392012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ICICI Pru Midcap Fund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3635025" y="3854053"/>
            <a:ext cx="1667563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ICICI Prudential MF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302588" y="3854053"/>
            <a:ext cx="71895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94.44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6021539" y="3854053"/>
            <a:ext cx="98140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32.83%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002940" y="3854053"/>
            <a:ext cx="798230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1.18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7801170" y="3854053"/>
            <a:ext cx="699892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0.29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642938" y="4125516"/>
            <a:ext cx="60007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1243013" y="4125516"/>
            <a:ext cx="2392012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Kotak Flexicap Fund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3635025" y="4125516"/>
            <a:ext cx="1667563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Kotak Mahindra MF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5302588" y="4125516"/>
            <a:ext cx="71895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94.09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6021539" y="4125516"/>
            <a:ext cx="98140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30.91%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7002940" y="4125516"/>
            <a:ext cx="798230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1.31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7801170" y="4125516"/>
            <a:ext cx="699892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0.27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642938" y="4396978"/>
            <a:ext cx="60007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1243013" y="4396978"/>
            <a:ext cx="2392012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HDFC Mid-Cap Opportunities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635025" y="4396978"/>
            <a:ext cx="1667563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HDFC Mutual Fund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5302588" y="4396978"/>
            <a:ext cx="71895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92.35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6021539" y="4396978"/>
            <a:ext cx="98140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30.12%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7002940" y="4396978"/>
            <a:ext cx="798230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1.09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7801170" y="4396978"/>
            <a:ext cx="699892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0.27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42938" y="4668441"/>
            <a:ext cx="60007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243013" y="4668441"/>
            <a:ext cx="2392012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ICICI Pru Bluechip Fund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3635025" y="4668441"/>
            <a:ext cx="1667563" cy="271463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ICICI Prudential MF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5302588" y="4668441"/>
            <a:ext cx="71895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91.31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6021539" y="4668441"/>
            <a:ext cx="981401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23.30%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7002940" y="4668441"/>
            <a:ext cx="798230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1.03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7801170" y="4668441"/>
            <a:ext cx="699892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Investor Analytics Dashboard Overview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776883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Consolidated Transactional Insights (32,778 Records)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42938" y="1378744"/>
            <a:ext cx="2476481" cy="13001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5403" y="1735038"/>
            <a:ext cx="97155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32,778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3934" y="2152948"/>
            <a:ext cx="16144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33731" y="1378744"/>
            <a:ext cx="2476509" cy="13001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87958" y="1735038"/>
            <a:ext cx="136802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₹3,522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092448" y="2152948"/>
            <a:ext cx="9590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VALUE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24553" y="1378744"/>
            <a:ext cx="2476481" cy="13001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27931" y="1735038"/>
            <a:ext cx="669727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93998" y="2152948"/>
            <a:ext cx="7375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SIP SHARE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2938" y="2878931"/>
            <a:ext cx="2476481" cy="13001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8944" y="3235226"/>
            <a:ext cx="146446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₹1.07 Lakh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00736" y="3653135"/>
            <a:ext cx="136088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TRANSACTION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33731" y="2878931"/>
            <a:ext cx="2476509" cy="13001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20167" y="3235226"/>
            <a:ext cx="303609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023689" y="3653135"/>
            <a:ext cx="10965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STATES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24553" y="2878931"/>
            <a:ext cx="2476481" cy="13001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04688" y="3235226"/>
            <a:ext cx="111621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₹208 Cr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583245" y="3653135"/>
            <a:ext cx="135909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MONTHLY VOL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2938" y="4521994"/>
            <a:ext cx="7858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Data reflects consolidated investor activity across 12 active states as of June 2026.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428625"/>
            <a:ext cx="821531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Investor Analytics: Demographics &amp; Geography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64344" y="776883"/>
            <a:ext cx="8215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Modern Indian Investor Profile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4344" y="1235869"/>
            <a:ext cx="3711178" cy="29217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1378744"/>
            <a:ext cx="3696891" cy="2500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344" y="3879056"/>
            <a:ext cx="3696891" cy="26431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Age Group Distribution (%)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51942"/>
            <a:ext cx="117872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61309" y="1235869"/>
            <a:ext cx="183058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Geographic Distribution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0" y="1532334"/>
            <a:ext cx="4107656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Punjab and Tamil Nadu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the investment chart at approximately </a:t>
            </a: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₹3.16 </a:t>
            </a: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state.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4572000" y="1969498"/>
            <a:ext cx="4107656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Madhya Pradesh (₹3.08 Cr), Rajasthan (₹3.0 Cr), and Gujarat (₹3.0 Cr) follow closely.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65611"/>
            <a:ext cx="196453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39891" y="2549537"/>
            <a:ext cx="13162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City Tier &amp; Reach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572000" y="2846003"/>
            <a:ext cx="4107656" cy="18286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T30 Cities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account for </a:t>
            </a: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66.3%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transaction volume.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4572000" y="3100304"/>
            <a:ext cx="4107656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B30 Cities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contribute </a:t>
            </a: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33.7%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reflecting significant expansion into semi-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markets.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96416"/>
            <a:ext cx="196453" cy="1571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39891" y="3680343"/>
            <a:ext cx="192702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Demographic Insight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572000" y="3976808"/>
            <a:ext cx="4107656" cy="3657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26–35 cohort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leads with </a:t>
            </a:r>
            <a:r>
              <a:rPr lang="en-US" sz="8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41.1%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transactions, signaling a young,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digitally-native investor base.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357188"/>
            <a:ext cx="821531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Benchmark Comparison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64344" y="705445"/>
            <a:ext cx="8215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Funds vs NIFTY50 &amp; NIFTY100 (3-Year Window)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4344" y="1092994"/>
            <a:ext cx="5354241" cy="326290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235869"/>
            <a:ext cx="5054203" cy="2857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344" y="4093369"/>
            <a:ext cx="5339953" cy="24824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Growth (Base = 100) | May 2023 - June 2026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6215063" y="1092994"/>
            <a:ext cx="2464594" cy="23931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15063" y="1475184"/>
            <a:ext cx="2464594" cy="5143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Alpha Generation:</a:t>
            </a: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top 5 funds significantly outperformed both indices, reaching 220-260 points.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215063" y="2096691"/>
            <a:ext cx="2464594" cy="5143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 Lag:</a:t>
            </a: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NIFTY50 underperformed materially, dropping below 80 at its 2024 nadir.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215063" y="2718197"/>
            <a:ext cx="2464594" cy="5143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Leadership:</a:t>
            </a: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Mirae Asset Large Cap (Fund 148567) maintained the leading position for most of the period.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215063" y="3339703"/>
            <a:ext cx="2464594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Recovery:</a:t>
            </a: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NIFTY100 showed strong recovery from mid-2025, reaching ~130 by June 2026.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215063" y="3825478"/>
            <a:ext cx="2464594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Performance Master &amp; AMFI Benchmarks</a:t>
            </a:r>
            <a:endParaRPr lang="en-US" sz="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3" y="1489472"/>
            <a:ext cx="107156" cy="17145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3" y="2110978"/>
            <a:ext cx="107156" cy="17145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3" y="2732484"/>
            <a:ext cx="107156" cy="17145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3" y="3353991"/>
            <a:ext cx="107156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357188"/>
            <a:ext cx="7858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 &amp; Recommendations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2938" y="705445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Insights for Investors and Fund Managers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50094" y="1164431"/>
            <a:ext cx="10804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628775"/>
            <a:ext cx="87511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6173" y="1600200"/>
            <a:ext cx="35986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SIP Growth: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Monthly inflows surged 170% to ₹31,002 Cr, reflecting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retail equity participation.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14550"/>
            <a:ext cx="87511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6173" y="2085975"/>
            <a:ext cx="35986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Expansion: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folios nearly doubled to 26 Crore, driven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a young, digitally engaged demographic.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600325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6173" y="2571750"/>
            <a:ext cx="35986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AUM Leadership: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SBI MF maintains dominance (~₹12.5L Cr), while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Asset shows rapid percentage growth.</a:t>
            </a:r>
            <a:endParaRPr lang="en-US" sz="8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086100"/>
            <a:ext cx="87511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16173" y="3057525"/>
            <a:ext cx="35986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Alpha Generation: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Top-ranked funds consistently outperformed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NIFTY indices with near-zero pairwise correlation.</a:t>
            </a:r>
            <a:endParaRPr lang="en-US" sz="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63" y="1182291"/>
            <a:ext cx="128588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964906" y="1164431"/>
            <a:ext cx="156805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9163" y="1628775"/>
            <a:ext cx="100013" cy="1000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914900" y="1600200"/>
            <a:ext cx="3586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Holdings: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Anchor portfolios with high-scoring Large/Flexi-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funds for benchmark-beating stability.</a:t>
            </a:r>
            <a:endParaRPr lang="en-US" sz="8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9163" y="2114550"/>
            <a:ext cx="100013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14900" y="2085975"/>
            <a:ext cx="3586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Satellite Allocation: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Allocate 20-30% to Mid/Small-Cap via SIPs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enhance returns while managing volatility.</a:t>
            </a:r>
            <a:endParaRPr lang="en-US" sz="8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9163" y="2600325"/>
            <a:ext cx="100013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914900" y="2571750"/>
            <a:ext cx="3586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Management: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Address concentration risk in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Banking/IT/Pharma; diversify funds with HHI &gt; 0.18.</a:t>
            </a:r>
            <a:endParaRPr lang="en-US" sz="8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9163" y="3086100"/>
            <a:ext cx="100013" cy="100013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914900" y="3057525"/>
            <a:ext cx="3586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 Migration: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Shift to Direct plans to capture 70-120 bps </a:t>
            </a: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outperformance from lower expense ratios.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90602" y="1870770"/>
            <a:ext cx="236279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202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390602" y="2567285"/>
            <a:ext cx="236279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835176" y="4720233"/>
            <a:ext cx="347364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Mutual Fund Analytics &amp; Performance Report | June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2026-06-09T09:04:50Z</dcterms:created>
  <dcterms:modified xsi:type="dcterms:W3CDTF">2026-06-09T09:04:50Z</dcterms:modified>
</cp:coreProperties>
</file>